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48 saatlik örneklem 7 binden fazla hashtag düğümü üretti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8E4F1"/>
                </a:solidFill>
              </a:defRPr>
            </a:pPr>
            <a:r>
              <a:t>Sosyal Medyada Hashtag Ağı | BVA Büyük Veri Analistliği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7,092 hashtag düğümü ve 37,206 birlikte-kullanım bağlantısı oluşturuldu.</a:t>
            </a:r>
          </a:p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48 saatlik arşiv örnekleminde 7,658 hashtag'li gönderi analiz edildi.</a:t>
            </a:r>
          </a:p>
        </p:txBody>
      </p:sp>
      <p:pic>
        <p:nvPicPr>
          <p:cNvPr id="6" name="Picture 5" descr="poster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25880"/>
            <a:ext cx="557784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D"/>
                </a:solidFill>
              </a:defRPr>
            </a:pPr>
            <a:r>
              <a:t>Metehan Gezer | 2516016026 · Sosyal Ağ Analizi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Hashtag ortak-kullanımı yönsüz ve ağırlıklı bir ağ olarak modellendi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8E4F1"/>
                </a:solidFill>
              </a:defRPr>
            </a:pPr>
            <a:r>
              <a:t>Düğüm = hashtag; kenar = aynı gönderide birlikte geçiş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Kenar ağırlığı, hashtag çiftinin kaç gönderide birlikte geçtiğini sayar.</a:t>
            </a:r>
          </a:p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Kullanıcı kimliği ve gönderi metni kalıcı olarak kaydedilmedi.</a:t>
            </a:r>
          </a:p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CSV'deki UTC zaman damgası, üç saatlik pencerelere ayırmayı sağlar.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D"/>
                </a:solidFill>
              </a:defRPr>
            </a:pPr>
            <a:r>
              <a:t>Metehan Gezer | 2516016026 · Sosyal Ağ Analizi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Ağın yoğunluğu 0.00148; en büyük bileşen 5,731 düğüm içeriyor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8E4F1"/>
                </a:solidFill>
              </a:defRPr>
            </a:pPr>
            <a:r>
              <a:t>Temel ağ ölçüleri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Toplam 538 bağlı bileşen var.</a:t>
            </a:r>
          </a:p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En büyük bileşende örneklemeli ortalama yol 3.380; örneklem çapı alt sınırı 11.</a:t>
            </a:r>
          </a:p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Ortalama kümelenme katsayısı 0.803.</a:t>
            </a:r>
          </a:p>
        </p:txBody>
      </p:sp>
      <p:pic>
        <p:nvPicPr>
          <p:cNvPr id="6" name="Picture 5" descr="degre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25880"/>
            <a:ext cx="557784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D"/>
                </a:solidFill>
              </a:defRPr>
            </a:pPr>
            <a:r>
              <a:t>Metehan Gezer | 2516016026 · Sosyal Ağ Analizi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Derece ve köprü ölçüleri farklı türden görünürlüğü yakalar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8E4F1"/>
                </a:solidFill>
              </a:defRPr>
            </a:pPr>
            <a:r>
              <a:t>Merkeziyetler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Derece doğrudan komşu sayısını ölçer.</a:t>
            </a:r>
          </a:p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Betweenness en kısa yollar üzerinden köprü olma rolünü yaklaşık ölçer.</a:t>
            </a:r>
          </a:p>
          <a:p>
            <a:pPr>
              <a:spcAft>
                <a:spcPts val="1400"/>
              </a:spcAft>
              <a:defRPr sz="1500">
                <a:solidFill>
                  <a:srgbClr val="112640"/>
                </a:solidFill>
                <a:latin typeface="Aptos"/>
              </a:defRPr>
            </a:pPr>
            <a:r>
              <a:t>Closeness en büyük bileşende 100 örnek kaynağın uzaklıklarıyla yaklaşık hesaplanmıştır; PageRank ağırlıklı ağda hesaplanmıştır.</a:t>
            </a:r>
          </a:p>
        </p:txBody>
      </p:sp>
      <p:pic>
        <p:nvPicPr>
          <p:cNvPr id="6" name="Picture 5" descr="bridge_hashta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25880"/>
            <a:ext cx="557784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D"/>
                </a:solidFill>
              </a:defRPr>
            </a:pPr>
            <a:r>
              <a:t>Metehan Gezer | 2516016026 · Sosyal Ağ Analizi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Louvain toplulukları hashtag kümelerini ayırıyor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8E4F1"/>
                </a:solidFill>
              </a:defRPr>
            </a:pPr>
            <a:r>
              <a:t>Ağırlıklı modülerlik ile topluluk tespiti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Louvain topluluk sayısı: 589.</a:t>
            </a:r>
          </a:p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Topluluk 8: Türkiye gündemi ve siyaset (#türkiye, #gündem, #haber)</a:t>
            </a:r>
          </a:p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Topluluk 171: Dış politika ve güncel haber akışı (#dışpolitika, #abd, #sağlık)</a:t>
            </a:r>
          </a:p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Topluluk 9: Hukuk, protesto ve yerel gündem (#cumhuriyet, #hukuk, #protesto)</a:t>
            </a:r>
          </a:p>
          <a:p>
            <a:pPr>
              <a:spcAft>
                <a:spcPts val="1400"/>
              </a:spcAft>
              <a:defRPr sz="1500">
                <a:solidFill>
                  <a:srgbClr val="112640"/>
                </a:solidFill>
                <a:latin typeface="Aptos"/>
              </a:defRPr>
            </a:pPr>
            <a:r>
              <a:t>Adlar en sık görülen hashtag’ler incelenerek verilmiştir; topluluk içeriği karma olabilir.</a:t>
            </a:r>
          </a:p>
        </p:txBody>
      </p:sp>
      <p:pic>
        <p:nvPicPr>
          <p:cNvPr id="6" name="Picture 5" descr="community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25880"/>
            <a:ext cx="557784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D"/>
                </a:solidFill>
              </a:defRPr>
            </a:pPr>
            <a:r>
              <a:t>Metehan Gezer | 2516016026 · Sosyal Ağ Analizi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Leiden sonucu Louvain ile ikinci bir topluluk perspektifi sağlar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8E4F1"/>
                </a:solidFill>
              </a:defRPr>
            </a:pPr>
            <a:r>
              <a:t>İki algoritmanın karşılaştırılması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Leiden topluluk sayısı: 583.</a:t>
            </a:r>
          </a:p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Leiden ortalama ağırlıklı modülerliği: 0.5952.</a:t>
            </a:r>
          </a:p>
          <a:p>
            <a:pPr>
              <a:spcAft>
                <a:spcPts val="1400"/>
              </a:spcAft>
              <a:defRPr sz="1500">
                <a:solidFill>
                  <a:srgbClr val="112640"/>
                </a:solidFill>
                <a:latin typeface="Aptos"/>
              </a:defRPr>
            </a:pPr>
            <a:r>
              <a:t>Louvain ve Leiden farklı optimizasyon yolları kullanır; toplulukları NMI ve modülerlik üzerinden kıyaslamak gerekir.</a:t>
            </a:r>
          </a:p>
        </p:txBody>
      </p:sp>
      <p:pic>
        <p:nvPicPr>
          <p:cNvPr id="6" name="Picture 5" descr="community_siz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25880"/>
            <a:ext cx="557784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D"/>
                </a:solidFill>
              </a:defRPr>
            </a:pPr>
            <a:r>
              <a:t>Metehan Gezer | 2516016026 · Sosyal Ağ Analizi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10 tohum, topluluk çözümünün rastgeleliğe duyarlılığını ölçüyor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8E4F1"/>
                </a:solidFill>
              </a:defRPr>
            </a:pPr>
            <a:r>
              <a:t>Kararlılık analizi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Louvain: 10 tohumdaki ortalama çiftli NMI 0.876.</a:t>
            </a:r>
          </a:p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Leiden: 10 tohumdaki ortalama çiftli NMI 0.889.</a:t>
            </a:r>
          </a:p>
          <a:p>
            <a:pPr>
              <a:spcAft>
                <a:spcPts val="1400"/>
              </a:spcAft>
              <a:defRPr sz="1500">
                <a:solidFill>
                  <a:srgbClr val="112640"/>
                </a:solidFill>
                <a:latin typeface="Aptos"/>
              </a:defRPr>
            </a:pPr>
            <a:r>
              <a:t>NMI=1 aynı bölümlenme; NMI düşükse tohum değişiminde topluluk atamaları daha fazla değişiyor.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D"/>
                </a:solidFill>
              </a:defRPr>
            </a:pPr>
            <a:r>
              <a:t>Metehan Gezer | 2516016026 · Sosyal Ağ Analizi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Kümelenme ve modülerlik null modele göre yüksek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8E4F1"/>
                </a:solidFill>
              </a:defRPr>
            </a:pPr>
            <a:r>
              <a:t>Configuration model karşılaştırması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Kümelenme: gözlenen=0.8032, null ort.=0.0736, z=543.770</a:t>
            </a:r>
          </a:p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Ortalama yol: gözlenen=3.1251, null ort.=3.1680, z=-0.599</a:t>
            </a:r>
          </a:p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Modülerlik: gözlenen=0.6312, null ort.=0.2604, z=245.861</a:t>
            </a:r>
          </a:p>
          <a:p>
            <a:pPr>
              <a:spcAft>
                <a:spcPts val="1400"/>
              </a:spcAft>
              <a:defRPr sz="1500">
                <a:solidFill>
                  <a:srgbClr val="112640"/>
                </a:solidFill>
                <a:latin typeface="Aptos"/>
              </a:defRPr>
            </a:pPr>
            <a:r>
              <a:t>100 configuration-model ağı; aynı derece dizisi ilkesi, self-loop ve çoklu kenarlar sonradan kaldırıldı.</a:t>
            </a:r>
          </a:p>
        </p:txBody>
      </p:sp>
      <p:pic>
        <p:nvPicPr>
          <p:cNvPr id="6" name="Picture 5" descr="null_model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25880"/>
            <a:ext cx="557784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D"/>
                </a:solidFill>
              </a:defRPr>
            </a:pPr>
            <a:r>
              <a:t>Metehan Gezer | 2516016026 · Sosyal Ağ Analizi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Üç saatlik pencerelerde NMI, topluluk kararlılığını izliyor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8E4F1"/>
                </a:solidFill>
              </a:defRPr>
            </a:pPr>
            <a:r>
              <a:t>Kişisel ileri yöntem: zamansal ağ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3 saatlik, 1 saat adımlı kayan pencere sayısı: 46.</a:t>
            </a:r>
          </a:p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Geçerli ardışık NMI ortalaması: 0.845.</a:t>
            </a:r>
          </a:p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Pencereler 1 saat adımla örtüşür; NMI ortak hashtaglerin topluluk benzerliğini ölçer.</a:t>
            </a:r>
          </a:p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En yüksek betweenness değerli hashtagler topluluklar arasında olası köprülerdir.</a:t>
            </a:r>
          </a:p>
        </p:txBody>
      </p:sp>
      <p:pic>
        <p:nvPicPr>
          <p:cNvPr id="6" name="Picture 5" descr="temporal_nm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25880"/>
            <a:ext cx="557784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D"/>
                </a:solidFill>
              </a:defRPr>
            </a:pPr>
            <a:r>
              <a:t>Metehan Gezer | 2516016026 · Sosyal Ağ Analizi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3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1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ptos Display"/>
              </a:defRPr>
            </a:pPr>
            <a:r>
              <a:t>Sonuçlar örneklem penceresi ve yöntem sınırları içinde yorumlanmalı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D8E4F1"/>
                </a:solidFill>
              </a:defRPr>
            </a:pPr>
            <a:r>
              <a:t>Araştırma sorusuna yanıt ve sınırlılıklar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Birlikte hashtag kullanımı gerçek kullanıcı etkisini ya da nedenselliği kanıtlamaz.</a:t>
            </a:r>
          </a:p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48 saatlik Bluesky örneklemi tüm sosyal medyayı veya nüfusu temsil etmez.</a:t>
            </a:r>
          </a:p>
          <a:p>
            <a:pPr>
              <a:spcAft>
                <a:spcPts val="1400"/>
              </a:spcAft>
              <a:defRPr sz="1500">
                <a:solidFill>
                  <a:srgbClr val="112640"/>
                </a:solidFill>
                <a:latin typeface="Aptos"/>
              </a:defRPr>
            </a:pPr>
            <a:r>
              <a:t>Etkileşimli ağdaki alt ağ performans için filtrelenmiştir; tam GraphML ayrıca teslim edilir.</a:t>
            </a:r>
          </a:p>
          <a:p>
            <a:pPr>
              <a:spcAft>
                <a:spcPts val="1400"/>
              </a:spcAft>
              <a:defRPr sz="1800">
                <a:solidFill>
                  <a:srgbClr val="112640"/>
                </a:solidFill>
                <a:latin typeface="Aptos"/>
              </a:defRPr>
            </a:pPr>
            <a:r>
              <a:t>CV: Akış verisinden zamansal ağ analizi.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28816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2657D"/>
                </a:solidFill>
              </a:defRPr>
            </a:pPr>
            <a:r>
              <a:t>Metehan Gezer | 2516016026 · Sosyal Ağ Analizi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